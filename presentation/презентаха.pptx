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45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D9091-A27D-410F-8FF5-83EA8F1BD4EB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765ACE-6C7E-483B-8A3E-B1C080B70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974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765ACE-6C7E-483B-8A3E-B1C080B707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2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71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61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48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3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49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36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92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58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84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56C7BD-C9D2-4A57-9DD9-A39B2C9C2A82}" type="datetimeFigureOut">
              <a:rPr lang="en-US" smtClean="0"/>
              <a:t>6/7/2016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2BCD8-9144-42A6-9A57-36ED3E02D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12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8691" y="2041236"/>
            <a:ext cx="6936509" cy="2576946"/>
          </a:xfrm>
        </p:spPr>
        <p:txBody>
          <a:bodyPr>
            <a:noAutofit/>
          </a:bodyPr>
          <a:lstStyle/>
          <a:p>
            <a:pPr algn="l"/>
            <a:r>
              <a:rPr lang="ru-RU" sz="3600" dirty="0">
                <a:solidFill>
                  <a:schemeClr val="bg1"/>
                </a:solidFill>
                <a:latin typeface="Arial Black" panose="020B0A04020102020204" pitchFamily="34" charset="0"/>
              </a:rPr>
              <a:t>Разработка компонентов геоинформационной системы для многокритериального поиска </a:t>
            </a:r>
            <a:r>
              <a:rPr lang="ru-RU" sz="36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сервиса</a:t>
            </a:r>
            <a:endParaRPr lang="en-US" sz="36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48217" y="5079856"/>
            <a:ext cx="6068291" cy="1655762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Выполнил:</a:t>
            </a:r>
          </a:p>
          <a:p>
            <a:pPr algn="r"/>
            <a:r>
              <a:rPr lang="ru-RU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Емельянов В.А.</a:t>
            </a:r>
          </a:p>
          <a:p>
            <a:pPr algn="r"/>
            <a:r>
              <a:rPr lang="ru-RU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Дипломный руководитель:</a:t>
            </a:r>
          </a:p>
          <a:p>
            <a:pPr algn="r"/>
            <a:r>
              <a:rPr lang="ru-RU" sz="32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Чёрная О.С.</a:t>
            </a:r>
            <a:endParaRPr lang="en-US" sz="32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0108" y="5907737"/>
            <a:ext cx="36668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Харьков, Июнь 09, 2016</a:t>
            </a:r>
            <a:endParaRPr lang="en-US" sz="2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26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ЗАЧЕМ РАЗРАБАТЫВАТЬ ПОДОБНУЮ СИСТЕМУ?</a:t>
            </a:r>
            <a:endParaRPr lang="en-US" sz="2400" dirty="0">
              <a:solidFill>
                <a:srgbClr val="464547"/>
              </a:solidFill>
            </a:endParaRPr>
          </a:p>
        </p:txBody>
      </p:sp>
      <p:sp>
        <p:nvSpPr>
          <p:cNvPr id="5" name="Text Placeholder 14"/>
          <p:cNvSpPr txBox="1">
            <a:spLocks noGrp="1"/>
          </p:cNvSpPr>
          <p:nvPr>
            <p:ph idx="1"/>
          </p:nvPr>
        </p:nvSpPr>
        <p:spPr>
          <a:xfrm>
            <a:off x="339725" y="1077914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rIns="0" anchor="ctr" anchorCtr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Text Placeholder 14"/>
          <p:cNvSpPr txBox="1">
            <a:spLocks/>
          </p:cNvSpPr>
          <p:nvPr/>
        </p:nvSpPr>
        <p:spPr>
          <a:xfrm>
            <a:off x="339725" y="2973677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tIns="45720" rIns="0" bIns="45720" rtlCol="0" anchor="ctr" anchorCtr="0">
            <a:normAutofit/>
          </a:bodyPr>
          <a:lstStyle>
            <a:lvl1pPr marL="0" indent="0" algn="ctr" defTabSz="4572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2</a:t>
            </a:r>
            <a:endParaRPr lang="en-US" dirty="0"/>
          </a:p>
        </p:txBody>
      </p:sp>
      <p:sp>
        <p:nvSpPr>
          <p:cNvPr id="7" name="Text Placeholder 14"/>
          <p:cNvSpPr txBox="1">
            <a:spLocks/>
          </p:cNvSpPr>
          <p:nvPr/>
        </p:nvSpPr>
        <p:spPr>
          <a:xfrm>
            <a:off x="339725" y="4869441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tIns="45720" rIns="0" bIns="45720" rtlCol="0" anchor="ctr" anchorCtr="0">
            <a:normAutofit/>
          </a:bodyPr>
          <a:lstStyle>
            <a:lvl1pPr marL="0" indent="0" algn="ctr" defTabSz="4572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504517" y="1259470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Уменьшает затраты времени во время поиска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4517" y="3155233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Увеличивает вероятность нахождения желаемого объекта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04517" y="5050997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Результат соответствует желаниям пользователя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53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animBg="1"/>
      <p:bldP spid="6" grpId="0" animBg="1"/>
      <p:bldP spid="7" grpId="0" animBg="1"/>
      <p:bldP spid="9" grpId="0"/>
      <p:bldP spid="10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ОПРЕДЕЛЕНИЕ ЦЕЛЕЙ И ЗАДАЧИ</a:t>
            </a:r>
            <a:endParaRPr lang="en-US" sz="2400" dirty="0">
              <a:solidFill>
                <a:srgbClr val="464547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9725" y="1132898"/>
            <a:ext cx="11418166" cy="4351338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Цель</a:t>
            </a:r>
          </a:p>
          <a:p>
            <a:pPr marL="457200" lvl="1" indent="0">
              <a:buNone/>
            </a:pPr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Разработать систему многокритериального поиска территориально-распределённых объектов</a:t>
            </a:r>
            <a:endParaRPr lang="ru-RU" sz="2000" dirty="0">
              <a:solidFill>
                <a:srgbClr val="464547"/>
              </a:solidFill>
              <a:latin typeface="Trebuchet MS" panose="020B0603020202020204" pitchFamily="34" charset="0"/>
            </a:endParaRPr>
          </a:p>
          <a:p>
            <a:endParaRPr lang="ru-RU" sz="2400" dirty="0" smtClean="0">
              <a:solidFill>
                <a:srgbClr val="464547"/>
              </a:solidFill>
              <a:latin typeface="Trebuchet MS" panose="020B0603020202020204" pitchFamily="34" charset="0"/>
            </a:endParaRPr>
          </a:p>
          <a:p>
            <a:endParaRPr lang="ru-RU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Задача</a:t>
            </a:r>
          </a:p>
          <a:p>
            <a:pPr marL="457200" lvl="1" indent="0">
              <a:buNone/>
            </a:pPr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Реализовать ПС, которое эффективно решает задачу поиска и оценки территориально-распределённых объектов, которые характеризуются качественными и количественными характеристиками</a:t>
            </a:r>
          </a:p>
          <a:p>
            <a:endParaRPr lang="ru-RU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  <a:p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2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ЧТО ДЕЛАЕТ СИСТЕМА?</a:t>
            </a:r>
            <a:endParaRPr lang="en-US" sz="2400" dirty="0">
              <a:solidFill>
                <a:srgbClr val="464547"/>
              </a:solidFill>
            </a:endParaRPr>
          </a:p>
        </p:txBody>
      </p:sp>
      <p:sp>
        <p:nvSpPr>
          <p:cNvPr id="5" name="Text Placeholder 14"/>
          <p:cNvSpPr txBox="1">
            <a:spLocks noGrp="1"/>
          </p:cNvSpPr>
          <p:nvPr>
            <p:ph idx="1"/>
          </p:nvPr>
        </p:nvSpPr>
        <p:spPr>
          <a:xfrm>
            <a:off x="339725" y="1077914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rIns="0" anchor="ctr" anchorCtr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6" name="Text Placeholder 14"/>
          <p:cNvSpPr txBox="1">
            <a:spLocks/>
          </p:cNvSpPr>
          <p:nvPr/>
        </p:nvSpPr>
        <p:spPr>
          <a:xfrm>
            <a:off x="339725" y="2167064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tIns="45720" rIns="0" bIns="45720" rtlCol="0" anchor="ctr" anchorCtr="0">
            <a:normAutofit/>
          </a:bodyPr>
          <a:lstStyle>
            <a:lvl1pPr marL="0" indent="0" algn="ctr" defTabSz="4572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2</a:t>
            </a:r>
            <a:endParaRPr lang="en-US" dirty="0"/>
          </a:p>
        </p:txBody>
      </p:sp>
      <p:sp>
        <p:nvSpPr>
          <p:cNvPr id="7" name="Text Placeholder 14"/>
          <p:cNvSpPr txBox="1">
            <a:spLocks/>
          </p:cNvSpPr>
          <p:nvPr/>
        </p:nvSpPr>
        <p:spPr>
          <a:xfrm>
            <a:off x="339725" y="3256214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tIns="45720" rIns="0" bIns="45720" rtlCol="0" anchor="ctr" anchorCtr="0">
            <a:normAutofit/>
          </a:bodyPr>
          <a:lstStyle>
            <a:lvl1pPr marL="0" indent="0" algn="ctr" defTabSz="4572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3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1504517" y="1259470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Осуществляет поиск по сервисам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4517" y="2348620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Уточняет желания пользователя при поиске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04517" y="3437770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Отображает результаты при помощи ГИС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  <p:sp>
        <p:nvSpPr>
          <p:cNvPr id="11" name="Text Placeholder 14"/>
          <p:cNvSpPr txBox="1">
            <a:spLocks/>
          </p:cNvSpPr>
          <p:nvPr/>
        </p:nvSpPr>
        <p:spPr>
          <a:xfrm>
            <a:off x="339725" y="4345364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tIns="45720" rIns="0" bIns="45720" rtlCol="0" anchor="ctr" anchorCtr="0">
            <a:normAutofit/>
          </a:bodyPr>
          <a:lstStyle>
            <a:lvl1pPr marL="0" indent="0" algn="ctr" defTabSz="4572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 smtClean="0"/>
              <a:t>4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504517" y="4526920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Учитывает местонахождение пользователя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  <p:sp>
        <p:nvSpPr>
          <p:cNvPr id="13" name="Text Placeholder 14"/>
          <p:cNvSpPr txBox="1">
            <a:spLocks/>
          </p:cNvSpPr>
          <p:nvPr/>
        </p:nvSpPr>
        <p:spPr>
          <a:xfrm>
            <a:off x="339725" y="5434514"/>
            <a:ext cx="888711" cy="824778"/>
          </a:xfrm>
          <a:prstGeom prst="ellipse">
            <a:avLst/>
          </a:prstGeom>
          <a:solidFill>
            <a:srgbClr val="464547"/>
          </a:solidFill>
        </p:spPr>
        <p:txBody>
          <a:bodyPr vert="horz" lIns="0" tIns="45720" rIns="0" bIns="45720" rtlCol="0" anchor="ctr" anchorCtr="0">
            <a:normAutofit/>
          </a:bodyPr>
          <a:lstStyle>
            <a:lvl1pPr marL="0" indent="0" algn="ctr" defTabSz="457200" rtl="0" eaLnBrk="1" latinLnBrk="0" hangingPunct="1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Arial"/>
              <a:buNone/>
              <a:defRPr sz="2000" kern="1200">
                <a:solidFill>
                  <a:schemeClr val="bg1"/>
                </a:solidFill>
                <a:latin typeface="Arial Black"/>
                <a:ea typeface="+mn-ea"/>
                <a:cs typeface="Arial Black"/>
              </a:defRPr>
            </a:lvl1pPr>
            <a:lvl2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2pPr>
            <a:lvl3pPr marL="1143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3pPr>
            <a:lvl4pPr marL="1600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–"/>
              <a:defRPr sz="13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»"/>
              <a:defRPr sz="1100" kern="120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5pPr>
            <a:lvl6pPr marL="25146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504517" y="5616070"/>
            <a:ext cx="95226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Сохраняет оценку сервиса оставленную пользователями</a:t>
            </a:r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74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/>
      <p:bldP spid="11" grpId="0" animBg="1"/>
      <p:bldP spid="12" grpId="0"/>
      <p:bldP spid="13" grpId="0" animBg="1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ОПРЕДЕЛЕНИЕ МЕТОДОВ ОЦЕНКИ </a:t>
            </a:r>
            <a:endParaRPr lang="en-US" sz="2400" dirty="0">
              <a:solidFill>
                <a:srgbClr val="464547"/>
              </a:solidFill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339725" y="1132898"/>
            <a:ext cx="11418166" cy="4351338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Система +1/-1</a:t>
            </a:r>
          </a:p>
          <a:p>
            <a:pPr lvl="1"/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Интуитивно понятна</a:t>
            </a:r>
          </a:p>
          <a:p>
            <a:pPr lvl="1"/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Проста в реализации</a:t>
            </a:r>
          </a:p>
          <a:p>
            <a:endParaRPr lang="ru-RU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Шкала баллов</a:t>
            </a:r>
          </a:p>
          <a:p>
            <a:pPr lvl="1"/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Точная оценка качества</a:t>
            </a:r>
          </a:p>
          <a:p>
            <a:pPr lvl="1"/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Возможность ранжирования сервисов</a:t>
            </a:r>
          </a:p>
          <a:p>
            <a:endParaRPr lang="ru-RU" dirty="0">
              <a:solidFill>
                <a:srgbClr val="464547"/>
              </a:solidFill>
              <a:latin typeface="Trebuchet MS" panose="020B0603020202020204" pitchFamily="34" charset="0"/>
            </a:endParaRPr>
          </a:p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Текстовое описание оценки (комментарий)</a:t>
            </a:r>
          </a:p>
          <a:p>
            <a:pPr lvl="1"/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Детализированное описание</a:t>
            </a:r>
          </a:p>
          <a:p>
            <a:pPr lvl="1"/>
            <a:r>
              <a:rPr lang="ru-RU" sz="20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В одном описании можно учесть все качественные стороны</a:t>
            </a:r>
            <a:endParaRPr lang="en-US" sz="20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32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4686993" y="1802077"/>
            <a:ext cx="2651760" cy="2647308"/>
          </a:xfrm>
          <a:prstGeom prst="ellipse">
            <a:avLst/>
          </a:prstGeom>
          <a:solidFill>
            <a:srgbClr val="66D3E3"/>
          </a:solidFill>
          <a:ln w="88900">
            <a:solidFill>
              <a:srgbClr val="66D3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endParaRPr lang="en-US" sz="1400" kern="1000" normalizeH="1" dirty="0" smtClean="0">
              <a:latin typeface="Arial Black" panose="020B0A04020102020204" pitchFamily="34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792149" y="1903105"/>
            <a:ext cx="2441448" cy="2445251"/>
          </a:xfrm>
          <a:prstGeom prst="ellipse">
            <a:avLst/>
          </a:prstGeom>
          <a:solidFill>
            <a:srgbClr val="00B5D1"/>
          </a:solidFill>
          <a:ln w="88900">
            <a:solidFill>
              <a:srgbClr val="33C4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lstStyle/>
          <a:p>
            <a:pPr algn="ctr"/>
            <a:r>
              <a:rPr lang="ru-RU" sz="1300" dirty="0" smtClean="0">
                <a:latin typeface="Arial Black" panose="020B0A04020102020204" pitchFamily="34" charset="0"/>
              </a:rPr>
              <a:t>ПРОЕКТИРОВАНИЕ </a:t>
            </a:r>
          </a:p>
          <a:p>
            <a:pPr algn="ctr"/>
            <a:r>
              <a:rPr lang="ru-RU" sz="1300" dirty="0" smtClean="0">
                <a:latin typeface="Arial Black" panose="020B0A04020102020204" pitchFamily="34" charset="0"/>
              </a:rPr>
              <a:t>ПРОГРАММНОГО </a:t>
            </a:r>
          </a:p>
          <a:p>
            <a:pPr algn="ctr"/>
            <a:r>
              <a:rPr lang="ru-RU" sz="1300" dirty="0" smtClean="0">
                <a:latin typeface="Arial Black" panose="020B0A04020102020204" pitchFamily="34" charset="0"/>
              </a:rPr>
              <a:t>СРЕДСТВА</a:t>
            </a:r>
            <a:endParaRPr lang="en-US" sz="13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76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ОПРЕДЕЛЕНИЕ СУЩНОСТЕЙ СИСТЕМЫ</a:t>
            </a:r>
            <a:endParaRPr lang="en-US" sz="2400" dirty="0">
              <a:solidFill>
                <a:srgbClr val="464547"/>
              </a:solidFill>
            </a:endParaRPr>
          </a:p>
        </p:txBody>
      </p:sp>
      <p:pic>
        <p:nvPicPr>
          <p:cNvPr id="1027" name="Picture 1" descr="http://joxi.ru/L2190bRF63yBL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28" y="752907"/>
            <a:ext cx="11807536" cy="5898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4600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РАСПРЕДЕЛЕНИЕ ОБЯЗАНОСТЕЙ</a:t>
            </a:r>
            <a:endParaRPr lang="en-US" sz="2400" dirty="0">
              <a:solidFill>
                <a:srgbClr val="464547"/>
              </a:solidFill>
              <a:latin typeface="Arial Black" panose="020B0A04020102020204" pitchFamily="34" charset="0"/>
            </a:endParaRPr>
          </a:p>
        </p:txBody>
      </p:sp>
      <p:pic>
        <p:nvPicPr>
          <p:cNvPr id="2050" name="Picture 4" descr="http://dl1.joxi.net/drive/2016/05/23/0014/0437/954805/05/0bc96d46a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451" y="2339703"/>
            <a:ext cx="4592493" cy="2769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6" descr="http://joxi.ru/Y2L6X0khnY8q3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9454" y="1191307"/>
            <a:ext cx="5065999" cy="5065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18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РАСПРЕДЕЛЕНИЕ ОБЯЗАНОСТЕЙ</a:t>
            </a:r>
            <a:endParaRPr lang="en-US" sz="2400" dirty="0">
              <a:solidFill>
                <a:srgbClr val="464547"/>
              </a:solidFill>
              <a:latin typeface="Arial Black" panose="020B0A04020102020204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470" y="863745"/>
            <a:ext cx="8120784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010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 txBox="1">
            <a:spLocks/>
          </p:cNvSpPr>
          <p:nvPr/>
        </p:nvSpPr>
        <p:spPr>
          <a:xfrm>
            <a:off x="339725" y="0"/>
            <a:ext cx="11852275" cy="932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b="1" dirty="0" smtClean="0">
                <a:solidFill>
                  <a:srgbClr val="464547"/>
                </a:solidFill>
                <a:latin typeface="Arial Black" panose="020B0A04020102020204" pitchFamily="34" charset="0"/>
              </a:rPr>
              <a:t>ВЫВОДЫ</a:t>
            </a:r>
            <a:endParaRPr lang="en-US" sz="2400" dirty="0">
              <a:solidFill>
                <a:srgbClr val="464547"/>
              </a:solidFill>
            </a:endParaRPr>
          </a:p>
        </p:txBody>
      </p:sp>
      <p:sp>
        <p:nvSpPr>
          <p:cNvPr id="5" name="Content Placeholder 5"/>
          <p:cNvSpPr>
            <a:spLocks noGrp="1"/>
          </p:cNvSpPr>
          <p:nvPr>
            <p:ph idx="1"/>
          </p:nvPr>
        </p:nvSpPr>
        <p:spPr>
          <a:xfrm>
            <a:off x="339725" y="1132898"/>
            <a:ext cx="11418166" cy="4351338"/>
          </a:xfrm>
        </p:spPr>
        <p:txBody>
          <a:bodyPr>
            <a:normAutofit/>
          </a:bodyPr>
          <a:lstStyle/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Решена задача многокритериального поиска территориально-распределённых сервисов. </a:t>
            </a:r>
          </a:p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Проведен анализ предметной области</a:t>
            </a:r>
          </a:p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Определены методы разработки</a:t>
            </a:r>
          </a:p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Спроектирована архитектура системы</a:t>
            </a:r>
          </a:p>
          <a:p>
            <a:r>
              <a:rPr lang="ru-RU" sz="2400" dirty="0" smtClean="0">
                <a:solidFill>
                  <a:srgbClr val="464547"/>
                </a:solidFill>
                <a:latin typeface="Trebuchet MS" panose="020B0603020202020204" pitchFamily="34" charset="0"/>
              </a:rPr>
              <a:t>Разработана система администрирования </a:t>
            </a:r>
            <a:endParaRPr lang="ru-RU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  <a:p>
            <a:endParaRPr lang="en-US" sz="2400" dirty="0">
              <a:solidFill>
                <a:srgbClr val="464547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676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179</Words>
  <Application>Microsoft Office PowerPoint</Application>
  <PresentationFormat>Widescreen</PresentationFormat>
  <Paragraphs>56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Trebuchet MS</vt:lpstr>
      <vt:lpstr>Office Theme</vt:lpstr>
      <vt:lpstr>Разработка компонентов геоинформационной системы для многокритериального поиска сервиса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Vladyslav Yemelianov</dc:creator>
  <cp:lastModifiedBy>Vladyslav Yemelianov</cp:lastModifiedBy>
  <cp:revision>16</cp:revision>
  <dcterms:created xsi:type="dcterms:W3CDTF">2016-06-07T14:43:37Z</dcterms:created>
  <dcterms:modified xsi:type="dcterms:W3CDTF">2016-06-07T18:05:57Z</dcterms:modified>
</cp:coreProperties>
</file>